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1" r:id="rId22"/>
    <p:sldId id="272" r:id="rId23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4.xml"/><Relationship Id="rId23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6D399"/>
                </a:solidFill>
                <a:latin typeface="Aptos"/>
              </a:rPr>
              <a:t>TASK –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0467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5F8"/>
                </a:solidFill>
                <a:latin typeface="Aptos"/>
              </a:rPr>
              <a:t>Data Storytelling &amp;
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54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BCCD"/>
                </a:solidFill>
                <a:latin typeface="Aptos"/>
              </a:rPr>
              <a:t>From descriptive analysis 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F5F8"/>
                </a:solidFill>
                <a:latin typeface="Aptos"/>
              </a:rPr>
              <a:t>Sales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7150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EBCCD"/>
                </a:solidFill>
                <a:latin typeface="Aptos"/>
              </a:rPr>
              <a:t>Final presentation • Hypothesis testing •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55648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5F8"/>
                </a:solidFill>
                <a:latin typeface="Aptos"/>
              </a:rPr>
              <a:t>Turn transaction-level sales data into clear, actionable business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5F8"/>
                </a:solidFill>
                <a:latin typeface="Aptos"/>
              </a:defRPr>
            </a:pPr>
            <a:r>
              <a:t>• Analyze overall sales performance and trends.</a:t>
            </a:r>
          </a:p>
          <a:p>
            <a:pPr>
              <a:spcAft>
                <a:spcPts val="1400"/>
              </a:spcAft>
              <a:defRPr sz="1700">
                <a:solidFill>
                  <a:srgbClr val="F5F5F8"/>
                </a:solidFill>
                <a:latin typeface="Aptos"/>
              </a:defRPr>
            </a:pPr>
            <a:r>
              <a:t>• Identify high-performing products and categories.</a:t>
            </a:r>
          </a:p>
          <a:p>
            <a:pPr>
              <a:spcAft>
                <a:spcPts val="1400"/>
              </a:spcAft>
              <a:defRPr sz="1700">
                <a:solidFill>
                  <a:srgbClr val="F5F5F8"/>
                </a:solidFill>
                <a:latin typeface="Aptos"/>
              </a:defRPr>
            </a:pPr>
            <a:r>
              <a:t>• Understand customer and regional purchasing patterns.</a:t>
            </a:r>
          </a:p>
          <a:p>
            <a:pPr>
              <a:spcAft>
                <a:spcPts val="1400"/>
              </a:spcAft>
              <a:defRPr sz="1700">
                <a:solidFill>
                  <a:srgbClr val="F5F5F8"/>
                </a:solidFill>
                <a:latin typeface="Aptos"/>
              </a:defRPr>
            </a:pPr>
            <a:r>
              <a:t>• Validate an important business finding using statistical testing.</a:t>
            </a:r>
          </a:p>
          <a:p>
            <a:pPr>
              <a:spcAft>
                <a:spcPts val="1400"/>
              </a:spcAft>
              <a:defRPr sz="1700">
                <a:solidFill>
                  <a:srgbClr val="F5F5F8"/>
                </a:solidFill>
                <a:latin typeface="Aptos"/>
              </a:defRPr>
            </a:pPr>
            <a:r>
              <a:t>• Translate the evidence into practical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Use the same cleaned dataset prepared in Tasks 1–3.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Sales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Order-level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Customer •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Product • Category • Gender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Quantity •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915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Total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Order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5915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Year •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KEY FIELDS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10058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Order_ID and Order_Date support transaction and time analysis.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Customer_ID, Age, Gender and Age_Group support customer segmentation.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City, Product and Category support performance comparisons.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Quantity, Unit_Price and Total_Sales support revenue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8"/>
                </a:solidFill>
                <a:latin typeface="Aptos"/>
              </a:defRPr>
            </a:pPr>
            <a:r>
              <a:t>Actual Sales Dashboard — Task 3 Results</a:t>
            </a:r>
          </a:p>
        </p:txBody>
      </p:sp>
      <p:pic>
        <p:nvPicPr>
          <p:cNvPr id="3" name="Picture 2" descr="Screenshot 2026-08-31 205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08" y="658368"/>
            <a:ext cx="9266277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Actual Dashboard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These figures and observations are taken from the dashboard you provided.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EBCCD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013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8"/>
                </a:solidFill>
                <a:latin typeface="Aptos"/>
              </a:rPr>
              <a:t>₹139.40M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Dashboard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EBCCD"/>
                </a:solidFill>
                <a:latin typeface="Aptos"/>
              </a:rPr>
              <a:t>TOTAL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013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8"/>
                </a:solidFill>
                <a:latin typeface="Aptos"/>
              </a:rPr>
              <a:t>947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957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Dashboard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EBCCD"/>
                </a:solidFill>
                <a:latin typeface="Aptos"/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013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8"/>
                </a:solidFill>
                <a:latin typeface="Aptos"/>
              </a:rPr>
              <a:t>992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Dashboard KPI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325880"/>
            <a:ext cx="2560320" cy="141732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EBCCD"/>
                </a:solidFill>
                <a:latin typeface="Aptos"/>
              </a:rPr>
              <a:t>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8013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8"/>
                </a:solidFill>
                <a:latin typeface="Aptos"/>
              </a:rPr>
              <a:t>₹140.52K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3957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Dashboard 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Key observations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8"/>
                </a:solidFill>
                <a:latin typeface="Aptos"/>
              </a:rPr>
              <a:t>• Electronics is the strongest category in the displayed sales chart, at roughly ₹50M.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33087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8"/>
                </a:solidFill>
                <a:latin typeface="Aptos"/>
              </a:rPr>
              <a:t>• Laptop and Mobile are the leading products in the displayed product ranking.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001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8"/>
                </a:solidFill>
                <a:latin typeface="Aptos"/>
              </a:rPr>
              <a:t>• Patna, Kolkata and Mumbai appear among the leading cities in the displayed city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6694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8"/>
                </a:solidFill>
                <a:latin typeface="Aptos"/>
              </a:rPr>
              <a:t>• Repeat Customer Rate is 0.05, or about 5%, highlighting a customer-retention opportunity.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EBCCD"/>
                </a:solidFill>
                <a:latin typeface="Aptos"/>
              </a:rPr>
              <a:t>Note: The City visual's x-axis is labeled Total Orders, so describe those city values as orders unless the visual is corrected.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Key 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Values calculated from the uploaded sales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60320" cy="182880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₹139.40M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From Total_Sales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182880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QUANTITY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5,435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7063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From Quantity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2560320" cy="182880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7063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Distinct Customer_ID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560320" cy="182880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842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70632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Distinct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KPI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5F8"/>
                </a:solidFill>
                <a:latin typeface="Aptos"/>
              </a:rPr>
              <a:t>These four measures establish the scale of the business and provide the baseline for the deeper trend, customer, product and regional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EBCCD"/>
                </a:solidFill>
                <a:latin typeface="Aptos"/>
              </a:rPr>
              <a:t>Tip: copy the exact values already used in your Power BI cards.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Actual monthly sales findings from the uploaded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949440" cy="4343400"/>
          </a:xfrm>
          <a:prstGeom prst="roundRect">
            <a:avLst/>
          </a:prstGeom>
          <a:solidFill>
            <a:srgbClr val="23213E"/>
          </a:solidFill>
          <a:ln>
            <a:solidFill>
              <a:srgbClr val="46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06324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BEBCCD"/>
                </a:solidFill>
                <a:latin typeface="Aptos"/>
              </a:rPr>
              <a:t>Monthly Sales Trend — Key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03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EBCCD"/>
                </a:solidFill>
                <a:latin typeface="Aptos"/>
              </a:rPr>
              <a:t>Peak: March 2025 — ₹13.06M
Lowest full month: September 2025 — ₹9.18M
January 2026 is partial.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508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BUSINESS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92024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Sales peaked in March 2025 at about ₹13.06M.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September 2025 was the lowest full month at about ₹9.18M.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Use demand patterns to improve inventory and promotion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Customer-level sales and gender findings from the uploaded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WHAT TO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Sales by Gender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Sales by Age_Group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Top customers by Total_Sales (if available)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17320"/>
            <a:ext cx="6675120" cy="4343400"/>
          </a:xfrm>
          <a:prstGeom prst="roundRect">
            <a:avLst/>
          </a:prstGeom>
          <a:solidFill>
            <a:srgbClr val="23213E"/>
          </a:solidFill>
          <a:ln>
            <a:solidFill>
              <a:srgbClr val="46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297180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BEBCCD"/>
                </a:solidFill>
                <a:latin typeface="Aptos"/>
              </a:rPr>
              <a:t>Female: ₹66.93M
Male: ₹72.47M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6576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BCCD"/>
                </a:solidFill>
                <a:latin typeface="Aptos"/>
              </a:rPr>
              <a:t>Female customers: 463
Male customers: 484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5F8"/>
                </a:solidFill>
                <a:latin typeface="Aptos"/>
              </a:rPr>
              <a:t>Insight to write: “The gender difference is small relative to overall sales and requires statistical validation.”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Product &amp; Category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6858000" cy="4343400"/>
          </a:xfrm>
          <a:prstGeom prst="roundRect">
            <a:avLst/>
          </a:prstGeom>
          <a:solidFill>
            <a:srgbClr val="23213E"/>
          </a:solidFill>
          <a:ln>
            <a:solidFill>
              <a:srgbClr val="46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97180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BEBCCD"/>
                </a:solidFill>
                <a:latin typeface="Aptos"/>
              </a:rPr>
              <a:t>Category &amp; Product Sales — Key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BCCD"/>
                </a:solidFill>
                <a:latin typeface="Aptos"/>
              </a:rPr>
              <a:t>Electronics: ₹50.78M
Laptop: ₹25.44M
Mobile: ₹25.34M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508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BUSINESS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Electronics leads with about ₹50.78M.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Laptop and Mobile are the two leading products.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Review lower-performing categories for targeted improvement.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25780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F5F8"/>
                </a:solidFill>
                <a:latin typeface="Aptos"/>
              </a:rPr>
              <a:t>Key finding: “__________ is the leading category/product based on Total_Sales.”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Regional / City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6858000" cy="4343400"/>
          </a:xfrm>
          <a:prstGeom prst="roundRect">
            <a:avLst/>
          </a:prstGeom>
          <a:solidFill>
            <a:srgbClr val="23213E"/>
          </a:solidFill>
          <a:ln>
            <a:solidFill>
              <a:srgbClr val="46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97180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BEBCCD"/>
                </a:solidFill>
                <a:latin typeface="Aptos"/>
              </a:rPr>
              <a:t>City Sales — Key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BCCD"/>
                </a:solidFill>
                <a:latin typeface="Aptos"/>
              </a:rPr>
              <a:t>Patna: ₹20.83M
Kolkata: ₹18.88M
Bengaluru: ₹18.77M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508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DECISION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Patna leads with about ₹20.83M in sales.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Kolkata and Bengaluru are the next strongest markets.</a:t>
            </a:r>
          </a:p>
          <a:p>
            <a:pPr>
              <a:spcAft>
                <a:spcPts val="1400"/>
              </a:spcAft>
              <a:defRPr sz="1400">
                <a:solidFill>
                  <a:srgbClr val="F5F5F8"/>
                </a:solidFill>
                <a:latin typeface="Aptos"/>
              </a:defRPr>
            </a:pPr>
            <a:r>
              <a:t>• Prioritize resources by city-level sales potential.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25780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5F8"/>
                </a:solidFill>
                <a:latin typeface="Aptos"/>
              </a:rPr>
              <a:t>Top city: ________   Sales: ₹________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Key Insights — 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D399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399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Aptos"/>
              </a:rPr>
              <a:t>Sales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39903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EBCCD"/>
                </a:solidFill>
                <a:latin typeface="Aptos"/>
              </a:rPr>
              <a:t>Sales performance changes over time; peak periods should guide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D399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542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54203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EBCCD"/>
                </a:solidFill>
                <a:latin typeface="Aptos"/>
              </a:rPr>
              <a:t>A small number of segments may contribute disproportionately to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D399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685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Apto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68503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EBCCD"/>
                </a:solidFill>
                <a:latin typeface="Aptos"/>
              </a:rPr>
              <a:t>Top products/categories are the clearest opportunities for focused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D399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28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Aptos"/>
              </a:rPr>
              <a:t>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82803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EBCCD"/>
                </a:solidFill>
                <a:latin typeface="Aptos"/>
              </a:rPr>
              <a:t>Regional differences can reveal where marketing and inventory should be prioritized.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074920" cy="17373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RECOMMENDATION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Double down on winners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9192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Prioritize high-performing products and categories in promotions and inventory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17373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RECOMMENDATION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84248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Target valuable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79192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Build offers around the customer age/gender groups contributing the most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5074920" cy="17373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RECOMMENDATION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8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Focus by geography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28032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Allocate campaigns and stock based on city-level sales potential.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66160"/>
            <a:ext cx="5074920" cy="17373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RECOMMENDATION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33088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Plan around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28032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Use monthly patterns to prepare inventory and campaigns before peak periods.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6D399"/>
                </a:solidFill>
                <a:latin typeface="Aptos"/>
              </a:rPr>
              <a:t>Expected impact: stronger resource allocation • better customer targeting • improved sales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5564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Aptos"/>
              </a:rPr>
              <a:t>Is average customer-level Total_Sales significantly different between Female and Male customers?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5120640" cy="132588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NULL HYPOTHESIS (H₀)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μFemale = μMale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9359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No significant difference in mean customer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120640" cy="132588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9260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ALTERNATIVE HYPOTHESIS (H₁)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31012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μ₁ ≠ μ₂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9359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EBCCD"/>
                </a:solidFill>
                <a:latin typeface="Aptos"/>
              </a:rPr>
              <a:t>A significant difference in mean customer sales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BEBCCD"/>
                </a:solidFill>
                <a:latin typeface="Aptos"/>
              </a:rPr>
              <a:t>Test used: Welch’s independent two-sample t-test on 947 unique customers.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5F8"/>
                </a:solidFill>
                <a:latin typeface="Aptos"/>
              </a:rPr>
              <a:t>Choose the two groups from your analysis (for example, two age groups, genders, or other meaningful segments).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Statistical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Welch t-test on unique customers; significance level α = 0.05.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GROUP 1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₹144.56K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GROUP 2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842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₹149.73K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T-STATISTIC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842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-0.638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P-VALUE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044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0.523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33756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95%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044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₹-21.04K to ₹10.71K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337560"/>
            <a:ext cx="3383280" cy="1508760"/>
          </a:xfrm>
          <a:prstGeom prst="roundRect">
            <a:avLst/>
          </a:prstGeom>
          <a:solidFill>
            <a:srgbClr val="23213E"/>
          </a:solidFill>
          <a:ln>
            <a:solidFill>
              <a:srgbClr val="3C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EBCCD"/>
                </a:solidFill>
                <a:latin typeface="Aptos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044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5F8"/>
                </a:solidFill>
                <a:latin typeface="Aptos"/>
              </a:rPr>
              <a:t>[Reject / Fail to reject H₀]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Interpretation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37667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5F8"/>
                </a:solidFill>
                <a:latin typeface="Aptos"/>
              </a:rPr>
              <a:t>Since p = 0.523 ≥ 0.05, the difference is not statistically significant.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Business Conclusion from the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STATISTICAL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8"/>
                </a:solidFill>
                <a:latin typeface="Aptos"/>
              </a:rPr>
              <a:t>“At the 5% significance level, we fail to reject H₀ because p = 0.523.”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BUSINESS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93008"/>
            <a:ext cx="10515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5F5F8"/>
                </a:solidFill>
                <a:latin typeface="Aptos"/>
              </a:rPr>
              <a:t>“The observed difference in average customer-level sales between Female and Male customers is not statistically significant. Gender alone should not drive sales decisions.”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BCCD"/>
                </a:solidFill>
                <a:latin typeface="Aptos"/>
              </a:rPr>
              <a:t>Important: statistical significance does not automatically mean the difference is large or commercially important. Consider effect size and business impact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Final Conclusion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6D399"/>
                </a:solidFill>
                <a:latin typeface="Aptos"/>
              </a:rPr>
              <a:t>FROM DATA → INSIGHT →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8"/>
                </a:solidFill>
                <a:latin typeface="Aptos"/>
              </a:rPr>
              <a:t>The analysis identifies where sales are strongest, which customers and products matter most, and where the business can focus its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Use high-performing products/categories as growth anchors.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Target the strongest customer segments with relevant offers.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Prioritize high-potential cities and markets.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Use demand trends to improve planning.</a:t>
            </a:r>
          </a:p>
          <a:p>
            <a:pPr>
              <a:spcAft>
                <a:spcPts val="1400"/>
              </a:spcAft>
              <a:defRPr sz="1600">
                <a:solidFill>
                  <a:srgbClr val="F5F5F8"/>
                </a:solidFill>
                <a:latin typeface="Aptos"/>
              </a:defRPr>
            </a:pPr>
            <a:r>
              <a:t>• Validate major decisions with appropriate statistical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6D399"/>
                </a:solidFill>
                <a:latin typeface="Aptos"/>
              </a:rPr>
              <a:t>CALL TO ACTION: Convert the strongest insights into a focused sales and marketing plan, then measure the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5F5F8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5F5F8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EBCCD"/>
                </a:solidFill>
                <a:latin typeface="Aptos"/>
              </a:rPr>
              <a:t>Data Storytelling &amp; 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EBCCD"/>
                </a:solidFill>
                <a:latin typeface="Aptos"/>
              </a:rPr>
              <a:t>GitHub deliverables: Final presentation + hypothesis testing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EBCCD"/>
                </a:solidFill>
                <a:latin typeface="Aptos"/>
              </a:rPr>
              <a:t>TASK 4 • DATA STORYTELLING &amp; STATISTICAL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BEBCC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